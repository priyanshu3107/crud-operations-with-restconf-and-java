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0" r:id="rId2"/>
    <p:sldId id="4425" r:id="rId3"/>
    <p:sldId id="4426" r:id="rId4"/>
    <p:sldId id="4421" r:id="rId5"/>
    <p:sldId id="4424" r:id="rId6"/>
    <p:sldId id="4423" r:id="rId7"/>
    <p:sldId id="4427" r:id="rId8"/>
    <p:sldId id="4428" r:id="rId9"/>
    <p:sldId id="4429" r:id="rId10"/>
    <p:sldId id="4434" r:id="rId11"/>
    <p:sldId id="4432" r:id="rId12"/>
    <p:sldId id="4435" r:id="rId13"/>
    <p:sldId id="4433" r:id="rId14"/>
    <p:sldId id="4431" r:id="rId15"/>
    <p:sldId id="4430" r:id="rId16"/>
    <p:sldId id="4436" r:id="rId17"/>
    <p:sldId id="4437" r:id="rId18"/>
    <p:sldId id="4438" r:id="rId19"/>
    <p:sldId id="4450" r:id="rId20"/>
    <p:sldId id="4444" r:id="rId21"/>
    <p:sldId id="4451" r:id="rId22"/>
    <p:sldId id="4443" r:id="rId23"/>
    <p:sldId id="4445" r:id="rId24"/>
    <p:sldId id="4446" r:id="rId25"/>
    <p:sldId id="4439" r:id="rId26"/>
    <p:sldId id="4447" r:id="rId27"/>
    <p:sldId id="4448" r:id="rId28"/>
    <p:sldId id="4440" r:id="rId29"/>
    <p:sldId id="4441" r:id="rId30"/>
    <p:sldId id="4442" r:id="rId31"/>
    <p:sldId id="444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6" y="670289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25SUB4507_NMS Developer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6" y="1941898"/>
            <a:ext cx="7470181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16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17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 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3308456"/>
            <a:ext cx="6780319" cy="2831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G3</a:t>
            </a:r>
          </a:p>
          <a:p>
            <a:pPr>
              <a:lnSpc>
                <a:spcPts val="223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HK Grotesk" pitchFamily="2" charset="77"/>
            </a:endParaRPr>
          </a:p>
          <a:p>
            <a:pPr marL="342900" indent="-342900">
              <a:lnSpc>
                <a:spcPts val="22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Shiven Chauhan (56198)</a:t>
            </a:r>
          </a:p>
          <a:p>
            <a:pPr marL="342900" indent="-342900">
              <a:lnSpc>
                <a:spcPts val="22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Saransh Sharma (56199)</a:t>
            </a:r>
          </a:p>
          <a:p>
            <a:pPr marL="342900" indent="-342900">
              <a:lnSpc>
                <a:spcPts val="22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Jai Anshul Gautam (56186)</a:t>
            </a:r>
          </a:p>
          <a:p>
            <a:pPr marL="342900" indent="-342900">
              <a:lnSpc>
                <a:spcPts val="22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Chhavi Gupta (57181)</a:t>
            </a:r>
          </a:p>
          <a:p>
            <a:pPr marL="342900" indent="-342900">
              <a:lnSpc>
                <a:spcPts val="22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Vicky Jha (56207)</a:t>
            </a:r>
          </a:p>
          <a:p>
            <a:pPr marL="342900" indent="-342900">
              <a:lnSpc>
                <a:spcPts val="22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Shubham Kumar Mehta (56232)</a:t>
            </a:r>
          </a:p>
          <a:p>
            <a:pPr marL="342900" indent="-342900">
              <a:lnSpc>
                <a:spcPts val="22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HK Grotesk" pitchFamily="2" charset="77"/>
              </a:rPr>
              <a:t>Nallavelly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Lalith Reddy (56217)</a:t>
            </a:r>
          </a:p>
          <a:p>
            <a:pPr marL="342900" indent="-342900">
              <a:lnSpc>
                <a:spcPts val="22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Priyanshu Dagar (56197)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6" y="2660878"/>
            <a:ext cx="10094509" cy="306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HK Grotesk"/>
              </a:rPr>
              <a:t>CRUD operations with RESTCONF and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4E41F-3E99-CD27-38A0-F00A9714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43D4930-A00D-3378-BA96-2479836C7C29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Project Overview</a:t>
            </a:r>
          </a:p>
          <a:p>
            <a:pPr>
              <a:spcBef>
                <a:spcPct val="0"/>
              </a:spcBef>
            </a:pP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01F70A5-8834-AF06-48DB-8C7CC744C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81AD232-A8D1-FACA-DD5D-93D5C25C622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072D3-9DD0-2A7D-E294-46A4C97C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FEAE7-DADB-E978-213B-5B6C264C64AB}"/>
              </a:ext>
            </a:extLst>
          </p:cNvPr>
          <p:cNvSpPr txBox="1"/>
          <p:nvPr/>
        </p:nvSpPr>
        <p:spPr>
          <a:xfrm>
            <a:off x="273075" y="1196360"/>
            <a:ext cx="8980654" cy="3476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§"/>
              <a:defRPr sz="2000">
                <a:solidFill>
                  <a:srgbClr val="212121"/>
                </a:solidFill>
                <a:latin typeface="Segoe UI"/>
              </a:defRPr>
            </a:pPr>
            <a:r>
              <a:rPr lang="en-US" sz="2600" dirty="0">
                <a:latin typeface="HK Grotesk"/>
              </a:rPr>
              <a:t>Enterprise backend system built using Spring Boot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§"/>
              <a:defRPr sz="2000">
                <a:solidFill>
                  <a:srgbClr val="212121"/>
                </a:solidFill>
                <a:latin typeface="Segoe UI"/>
              </a:defRPr>
            </a:pPr>
            <a:r>
              <a:rPr lang="en-US" sz="2600" dirty="0">
                <a:latin typeface="HK Grotesk"/>
              </a:rPr>
              <a:t>Implements full CRUD operations on network devices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§"/>
              <a:defRPr sz="2000">
                <a:solidFill>
                  <a:srgbClr val="212121"/>
                </a:solidFill>
                <a:latin typeface="Segoe UI"/>
              </a:defRPr>
            </a:pPr>
            <a:r>
              <a:rPr lang="en-US" sz="2600" dirty="0">
                <a:latin typeface="HK Grotesk"/>
              </a:rPr>
              <a:t>Role-Based Access Control (ADMIN / USER) enforced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§"/>
              <a:defRPr sz="2000">
                <a:solidFill>
                  <a:srgbClr val="212121"/>
                </a:solidFill>
                <a:latin typeface="Segoe UI"/>
              </a:defRPr>
            </a:pPr>
            <a:r>
              <a:rPr lang="en-US" sz="2600" dirty="0">
                <a:latin typeface="HK Grotesk"/>
              </a:rPr>
              <a:t>MySQL integrated for persistent storage</a:t>
            </a:r>
          </a:p>
        </p:txBody>
      </p:sp>
    </p:spTree>
    <p:extLst>
      <p:ext uri="{BB962C8B-B14F-4D97-AF65-F5344CB8AC3E}">
        <p14:creationId xmlns:p14="http://schemas.microsoft.com/office/powerpoint/2010/main" val="69693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DEAE3-19BA-3FAE-7800-F3D80B7D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EBA0643-1EAF-A790-1C8C-00FF8FC79AC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Problem Statement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316AAD4-D5D6-357E-D588-4BD587A3F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1341DD9-19F2-FD03-3AE2-5B1F73F0B90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B0032-ED9B-7909-AB32-AF0149F6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3A4D1-76DC-CE7F-8DE2-458785FC7872}"/>
              </a:ext>
            </a:extLst>
          </p:cNvPr>
          <p:cNvSpPr txBox="1"/>
          <p:nvPr/>
        </p:nvSpPr>
        <p:spPr>
          <a:xfrm>
            <a:off x="273074" y="1354574"/>
            <a:ext cx="11687277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800" dirty="0">
                <a:latin typeface="HK Grotesk"/>
              </a:rPr>
              <a:t>Develop a Java application to implement RESTCONF-based CRUD operations over HTTP, enabling creation, retrieval, modification, and deletion of network configuration resources with proper response handling and API validation.</a:t>
            </a:r>
            <a:endParaRPr lang="en-US" sz="28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393884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Technology Stack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47F501-DEC6-74B2-BE31-C1CB09CE8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75" y="1039495"/>
            <a:ext cx="743531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2EA3-865C-FA35-3C5F-E9E265BA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C23322F-1F69-F707-A25E-927B8AB45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FA3178B-4813-F81F-5A18-C4503E37A75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C0CA7-6396-8515-D0FE-20EAA172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2C8BDB-440B-1FA9-C0B2-C10599F60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22"/>
            <a:ext cx="10588751" cy="635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27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76F4-2D25-3157-4C04-3E0137D6A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FE63D76-5208-7D6C-E1C2-0E5C403C6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FEF6EA4-EC84-D864-F80E-6A09562255D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00411-FCA7-8AB1-F203-2E0F68E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F6375A-B646-A3C7-34C9-01F7D260D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80" y="16388"/>
            <a:ext cx="9756648" cy="638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3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5DE1-86D0-20A0-F22A-E4848258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F9FA17E-D76D-4534-DD49-DE687668ED51}"/>
              </a:ext>
            </a:extLst>
          </p:cNvPr>
          <p:cNvSpPr/>
          <p:nvPr/>
        </p:nvSpPr>
        <p:spPr>
          <a:xfrm>
            <a:off x="814593" y="2133032"/>
            <a:ext cx="10102565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4400" b="1" dirty="0">
                <a:solidFill>
                  <a:srgbClr val="0187CC"/>
                </a:solidFill>
                <a:latin typeface="HK Grotesk"/>
              </a:rPr>
              <a:t>Authentication Module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3EE97CE-371A-91EB-ED68-D5A5DE7E3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23E4DF9-FE51-35E3-6E30-32AB476B9B0F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3288C-93FF-4D97-D2BB-F0DEADC15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2D72C-D023-FAD7-7A19-E61E47CC4CC0}"/>
              </a:ext>
            </a:extLst>
          </p:cNvPr>
          <p:cNvSpPr txBox="1"/>
          <p:nvPr/>
        </p:nvSpPr>
        <p:spPr>
          <a:xfrm>
            <a:off x="2907792" y="3272091"/>
            <a:ext cx="59161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>
                <a:solidFill>
                  <a:srgbClr val="212121"/>
                </a:solidFill>
                <a:latin typeface="Segoe UI"/>
              </a:defRPr>
            </a:pPr>
            <a:r>
              <a:rPr lang="en-IN" dirty="0"/>
              <a:t>Secure Login &amp; Role Validation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2D70E0-41D0-5F20-F46A-8AB837960557}"/>
              </a:ext>
            </a:extLst>
          </p:cNvPr>
          <p:cNvSpPr/>
          <p:nvPr/>
        </p:nvSpPr>
        <p:spPr>
          <a:xfrm>
            <a:off x="3963924" y="3765207"/>
            <a:ext cx="3835908" cy="66129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63180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1B7CF-CECD-B660-6FDF-62DDA76D7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B525EEE-C206-EE92-6FE5-A0AF32094597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Authentication Flow</a:t>
            </a:r>
          </a:p>
          <a:p>
            <a:pPr>
              <a:spcBef>
                <a:spcPct val="0"/>
              </a:spcBef>
            </a:pP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9A9680F-5697-383D-5070-ACE26BE1D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170F2CE-C047-F116-FC52-D794E54271E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62761-7FCA-9FF1-B16D-2D85CC8B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B5DD6-9527-6ED4-5FDD-78EE7559DEAF}"/>
              </a:ext>
            </a:extLst>
          </p:cNvPr>
          <p:cNvSpPr txBox="1"/>
          <p:nvPr/>
        </p:nvSpPr>
        <p:spPr>
          <a:xfrm>
            <a:off x="273075" y="3666450"/>
            <a:ext cx="58229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Aft>
                <a:spcPts val="800"/>
              </a:spcAft>
              <a:buFont typeface="Courier New" panose="02070309020205020404" pitchFamily="49" charset="0"/>
              <a:buChar char="o"/>
              <a:defRPr sz="2000">
                <a:solidFill>
                  <a:srgbClr val="212121"/>
                </a:solidFill>
                <a:latin typeface="Segoe UI"/>
              </a:defRPr>
            </a:pPr>
            <a:r>
              <a:rPr lang="en-US" sz="2800" dirty="0">
                <a:latin typeface="HK Grotesk"/>
              </a:rPr>
              <a:t>User registers via /auth/register</a:t>
            </a:r>
          </a:p>
          <a:p>
            <a:pPr marL="457200" indent="-457200">
              <a:spcAft>
                <a:spcPts val="800"/>
              </a:spcAft>
              <a:buFont typeface="Courier New" panose="02070309020205020404" pitchFamily="49" charset="0"/>
              <a:buChar char="o"/>
              <a:defRPr sz="2000">
                <a:solidFill>
                  <a:srgbClr val="212121"/>
                </a:solidFill>
                <a:latin typeface="Segoe UI"/>
              </a:defRPr>
            </a:pPr>
            <a:r>
              <a:rPr lang="en-US" sz="2800" dirty="0">
                <a:latin typeface="HK Grotesk"/>
              </a:rPr>
              <a:t>User logs in via /auth/login</a:t>
            </a:r>
          </a:p>
          <a:p>
            <a:pPr marL="457200" indent="-457200">
              <a:spcAft>
                <a:spcPts val="800"/>
              </a:spcAft>
              <a:buFont typeface="Courier New" panose="02070309020205020404" pitchFamily="49" charset="0"/>
              <a:buChar char="o"/>
              <a:defRPr sz="2000">
                <a:solidFill>
                  <a:srgbClr val="212121"/>
                </a:solidFill>
                <a:latin typeface="Segoe UI"/>
              </a:defRPr>
            </a:pPr>
            <a:r>
              <a:rPr lang="en-US" sz="2800" dirty="0">
                <a:latin typeface="HK Grotesk"/>
              </a:rPr>
              <a:t>System validates credentials</a:t>
            </a:r>
          </a:p>
          <a:p>
            <a:pPr marL="457200" indent="-457200">
              <a:spcAft>
                <a:spcPts val="800"/>
              </a:spcAft>
              <a:buFont typeface="Courier New" panose="02070309020205020404" pitchFamily="49" charset="0"/>
              <a:buChar char="o"/>
              <a:defRPr sz="2000">
                <a:solidFill>
                  <a:srgbClr val="212121"/>
                </a:solidFill>
                <a:latin typeface="Segoe UI"/>
              </a:defRPr>
            </a:pPr>
            <a:r>
              <a:rPr lang="en-US" sz="2800" dirty="0">
                <a:latin typeface="HK Grotesk"/>
              </a:rPr>
              <a:t>Role returned to client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15CC23-4359-C8F5-EA85-44F037A3F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06" b="26036"/>
          <a:stretch>
            <a:fillRect/>
          </a:stretch>
        </p:blipFill>
        <p:spPr>
          <a:xfrm>
            <a:off x="273075" y="950780"/>
            <a:ext cx="7718918" cy="247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95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CF6C2-6A9C-B1A5-6E21-CCD839E6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613C105-4B70-8B76-90F7-DCECD7407F1A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AuthController.java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8A81BEF-C994-F4F1-5B0B-1D3E7950F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9BEC7C8-5804-E58F-8CE5-518A5D756FA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46797-2739-39F8-C564-19396E4E7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3C5D2-9B61-118E-1292-902F99695800}"/>
              </a:ext>
            </a:extLst>
          </p:cNvPr>
          <p:cNvSpPr txBox="1"/>
          <p:nvPr/>
        </p:nvSpPr>
        <p:spPr>
          <a:xfrm>
            <a:off x="273075" y="1318400"/>
            <a:ext cx="11687277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HK Grotesk"/>
              </a:rPr>
              <a:t>Maps Authentication Endpoints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HK Grotesk"/>
              </a:rPr>
              <a:t>Defines REST API routes such as </a:t>
            </a:r>
            <a:r>
              <a:rPr lang="en-US" i="1" dirty="0">
                <a:latin typeface="HK Grotesk"/>
              </a:rPr>
              <a:t>/auth/register</a:t>
            </a:r>
            <a:r>
              <a:rPr lang="en-US" sz="3200" i="1" dirty="0">
                <a:latin typeface="HK Grotesk"/>
              </a:rPr>
              <a:t> </a:t>
            </a:r>
            <a:r>
              <a:rPr lang="en-US" sz="2000" dirty="0">
                <a:latin typeface="HK Grotesk"/>
              </a:rPr>
              <a:t>and </a:t>
            </a:r>
            <a:r>
              <a:rPr lang="en-US" i="1" dirty="0">
                <a:latin typeface="HK Grotesk"/>
              </a:rPr>
              <a:t>/auth/login</a:t>
            </a:r>
            <a:r>
              <a:rPr lang="en-US" sz="3200" i="1" dirty="0">
                <a:latin typeface="HK Grotesk"/>
              </a:rPr>
              <a:t> </a:t>
            </a:r>
            <a:r>
              <a:rPr lang="en-US" sz="2000" dirty="0">
                <a:latin typeface="HK Grotesk"/>
              </a:rPr>
              <a:t>to handle user authentication requests.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HK Grotesk"/>
              </a:rPr>
              <a:t>Accepts JSON Request Body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HK Grotesk"/>
              </a:rPr>
              <a:t>Receives user data (username, password, role) in JSON format using </a:t>
            </a:r>
            <a:r>
              <a:rPr lang="en-US" i="1" dirty="0">
                <a:latin typeface="HK Grotesk"/>
              </a:rPr>
              <a:t>@RequestBody</a:t>
            </a:r>
            <a:r>
              <a:rPr lang="en-US" sz="2800" i="1" dirty="0">
                <a:latin typeface="HK Grotesk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HK Grotesk"/>
              </a:rPr>
              <a:t>Calls </a:t>
            </a:r>
            <a:r>
              <a:rPr lang="en-US" sz="2000" b="1" dirty="0" err="1">
                <a:latin typeface="HK Grotesk"/>
              </a:rPr>
              <a:t>AuthService</a:t>
            </a:r>
            <a:r>
              <a:rPr lang="en-US" sz="2000" b="1" dirty="0">
                <a:latin typeface="HK Grotesk"/>
              </a:rPr>
              <a:t> Methods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HK Grotesk"/>
              </a:rPr>
              <a:t>Delegates business logic and credential validation to the </a:t>
            </a:r>
            <a:r>
              <a:rPr lang="en-US" i="1" dirty="0" err="1">
                <a:latin typeface="HK Grotesk"/>
              </a:rPr>
              <a:t>AuthService</a:t>
            </a:r>
            <a:r>
              <a:rPr lang="en-US" sz="2000" dirty="0">
                <a:latin typeface="HK Grotesk"/>
              </a:rPr>
              <a:t> layer.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HK Grotesk"/>
              </a:rPr>
              <a:t>Returns Response to Client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HK Grotesk"/>
              </a:rPr>
              <a:t>Sends authentication result (success message or role) back to the client as an HTTP response.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defRPr sz="2000">
                <a:solidFill>
                  <a:srgbClr val="212121"/>
                </a:solidFill>
                <a:latin typeface="Segoe UI"/>
              </a:defRPr>
            </a:pPr>
            <a:endParaRPr lang="en-US" sz="2000" dirty="0"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68017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A7D2E-F56C-3951-2B97-2B802504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E5C540C-50B9-0BA8-8651-3816B2BFEA1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AuthService.java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FD10CB2-24CB-579F-EA89-7796FCC12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1A6F8AD-E589-F5F4-5011-B4014539B32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8BFAB-D400-6989-5595-1720D62C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7A18FC-0E73-67F7-4A0B-41F67A0D72FE}"/>
              </a:ext>
            </a:extLst>
          </p:cNvPr>
          <p:cNvSpPr txBox="1"/>
          <p:nvPr/>
        </p:nvSpPr>
        <p:spPr>
          <a:xfrm>
            <a:off x="273075" y="1329194"/>
            <a:ext cx="11687277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HK Grotesk"/>
              </a:rPr>
              <a:t>Executes SQL Queries using JDBC Template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HK Grotesk"/>
              </a:rPr>
              <a:t>Interacts with the MySQL database to retrieve and store user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HK Grotesk"/>
              </a:rPr>
              <a:t>Validates Username and Password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HK Grotesk"/>
              </a:rPr>
              <a:t>Checks whether the provided credentials match the records in the database.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HK Grotesk"/>
              </a:rPr>
              <a:t>Returns User Role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HK Grotesk"/>
              </a:rPr>
              <a:t>Fetches and returns the assigned role (ADMIN / USER) after successful authentication.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HK Grotesk"/>
              </a:rPr>
              <a:t>Handles Authentication Logic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HK Grotesk"/>
              </a:rPr>
              <a:t>Implements the core business logic for user registration and login processes.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defRPr sz="2000">
                <a:solidFill>
                  <a:srgbClr val="212121"/>
                </a:solidFill>
                <a:latin typeface="Segoe UI"/>
              </a:defRPr>
            </a:pPr>
            <a:endParaRPr lang="en-US" sz="2000" dirty="0"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699695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A5D2-1809-CDDD-F636-E6DBA0981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2935D367-4A2E-2BBD-CB26-F3DFC4C7293F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Role Based Access Control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BB8F290-3879-4CE0-B14D-91402B6D4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A2E3FA2-C11E-517F-DD50-82F13C553CD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FB51C-D6DD-5F45-9244-A10629E8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EF0014-393D-AB59-246F-0DEDB6713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5" t="14667" r="4548" b="18800"/>
          <a:stretch>
            <a:fillRect/>
          </a:stretch>
        </p:blipFill>
        <p:spPr>
          <a:xfrm>
            <a:off x="1302893" y="1048639"/>
            <a:ext cx="8792083" cy="446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61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F9AAB-ACA2-7F9D-9468-07339B41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8D76DCB-C3D7-3E04-376B-559605BB28FD}"/>
              </a:ext>
            </a:extLst>
          </p:cNvPr>
          <p:cNvSpPr/>
          <p:nvPr/>
        </p:nvSpPr>
        <p:spPr>
          <a:xfrm>
            <a:off x="836983" y="2122827"/>
            <a:ext cx="10102565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4400" b="1" dirty="0">
                <a:solidFill>
                  <a:srgbClr val="0187CC"/>
                </a:solidFill>
                <a:latin typeface="HK Grotesk"/>
              </a:rPr>
              <a:t>Device Management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36E5207-BD6E-D69E-D725-072DF5B04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15586BA-5E63-AE43-5C70-F35ABDB9BB2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385DB-2411-00CC-11AB-24ADABDE2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5D49C-9DF1-34BE-B89D-C5A3DB33F430}"/>
              </a:ext>
            </a:extLst>
          </p:cNvPr>
          <p:cNvSpPr txBox="1"/>
          <p:nvPr/>
        </p:nvSpPr>
        <p:spPr>
          <a:xfrm>
            <a:off x="2935224" y="3272089"/>
            <a:ext cx="59161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>
                <a:solidFill>
                  <a:srgbClr val="212121"/>
                </a:solidFill>
                <a:latin typeface="Segoe UI"/>
              </a:defRPr>
            </a:pPr>
            <a:r>
              <a:rPr lang="en-IN" dirty="0">
                <a:latin typeface="HK Grotesk"/>
              </a:rPr>
              <a:t>CRUD Implementation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A1AEF2-E804-E9F7-4C26-D0289258676E}"/>
              </a:ext>
            </a:extLst>
          </p:cNvPr>
          <p:cNvSpPr/>
          <p:nvPr/>
        </p:nvSpPr>
        <p:spPr>
          <a:xfrm>
            <a:off x="4653357" y="3765207"/>
            <a:ext cx="2469819" cy="45719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23101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62483-31BE-EA12-245D-7ECCBC381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D249CFA-5D77-74D4-A719-668B9BFBC744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DeviceController.java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BD96D2E-41AD-4E2E-363B-5B06B0AA2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31EDAA9-6DE1-D6A6-CBB7-77B42EE0734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D929-2C9B-E52C-26ED-2D8FB278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F6547-7248-6D65-246F-7FA2510655E6}"/>
              </a:ext>
            </a:extLst>
          </p:cNvPr>
          <p:cNvSpPr txBox="1"/>
          <p:nvPr/>
        </p:nvSpPr>
        <p:spPr>
          <a:xfrm>
            <a:off x="273075" y="1313292"/>
            <a:ext cx="11687277" cy="4231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HK Grotesk"/>
              </a:rPr>
              <a:t>Maps POST, GET, PUT, DELETE Endpoints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HK Grotesk"/>
              </a:rPr>
              <a:t>Defines REST API routes for handling CRUD operations.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HK Grotesk"/>
              </a:rPr>
              <a:t>Validates Role Before Execution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HK Grotesk"/>
              </a:rPr>
              <a:t>Checks the user’s role (ADMIN / USER) before allowing access to restricted operations.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HK Grotesk"/>
              </a:rPr>
              <a:t>Delegates Logic to Service Layer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HK Grotesk"/>
              </a:rPr>
              <a:t>Forwards requests to the service layer where business logic is implemented</a:t>
            </a:r>
          </a:p>
        </p:txBody>
      </p:sp>
    </p:spTree>
    <p:extLst>
      <p:ext uri="{BB962C8B-B14F-4D97-AF65-F5344CB8AC3E}">
        <p14:creationId xmlns:p14="http://schemas.microsoft.com/office/powerpoint/2010/main" val="3255620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693C-126D-A3C8-B056-CC4D483C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4153EFD-00A8-180B-0DBD-ED2D32BF77C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RestconfService.java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D11C2C0-E46B-FB4B-92CE-06FFDDEF9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5472F8A-CCD2-41E2-4D77-F9BD9F22140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1DF90-E275-2AC9-EFC3-641AB1BC0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81D14-8C3C-AAFD-1D7D-B4A92E526649}"/>
              </a:ext>
            </a:extLst>
          </p:cNvPr>
          <p:cNvSpPr txBox="1"/>
          <p:nvPr/>
        </p:nvSpPr>
        <p:spPr>
          <a:xfrm>
            <a:off x="273075" y="1494503"/>
            <a:ext cx="11687277" cy="3631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600" b="1" dirty="0">
                <a:latin typeface="HK Grotesk"/>
              </a:rPr>
              <a:t>Contains create(), read(), update(), delete()</a:t>
            </a:r>
          </a:p>
          <a:p>
            <a:pPr>
              <a:lnSpc>
                <a:spcPct val="150000"/>
              </a:lnSpc>
            </a:pPr>
            <a:r>
              <a:rPr lang="en-IN" sz="2600" dirty="0">
                <a:latin typeface="HK Grotesk"/>
              </a:rPr>
              <a:t>Implements core CRUD methods for managing device records.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600" b="1" dirty="0">
                <a:latin typeface="HK Grotesk"/>
              </a:rPr>
              <a:t>Executes SQL Queries</a:t>
            </a:r>
          </a:p>
          <a:p>
            <a:pPr>
              <a:lnSpc>
                <a:spcPct val="150000"/>
              </a:lnSpc>
            </a:pPr>
            <a:r>
              <a:rPr lang="en-IN" sz="2600" dirty="0">
                <a:latin typeface="HK Grotesk"/>
              </a:rPr>
              <a:t>Uses </a:t>
            </a:r>
            <a:r>
              <a:rPr lang="en-IN" sz="2600" i="1" dirty="0" err="1">
                <a:latin typeface="HK Grotesk"/>
              </a:rPr>
              <a:t>JdbcTemplate</a:t>
            </a:r>
            <a:r>
              <a:rPr lang="en-IN" sz="2600" dirty="0">
                <a:latin typeface="HK Grotesk"/>
              </a:rPr>
              <a:t> to perform database operations.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600" b="1" dirty="0">
                <a:latin typeface="HK Grotesk"/>
              </a:rPr>
              <a:t>Ensures Data Persistence</a:t>
            </a:r>
          </a:p>
          <a:p>
            <a:pPr>
              <a:lnSpc>
                <a:spcPct val="150000"/>
              </a:lnSpc>
            </a:pPr>
            <a:r>
              <a:rPr lang="en-IN" sz="2600" dirty="0">
                <a:latin typeface="HK Grotesk"/>
              </a:rPr>
              <a:t>Stores and retrieves data reliably from the MySQL database.</a:t>
            </a:r>
          </a:p>
        </p:txBody>
      </p:sp>
    </p:spTree>
    <p:extLst>
      <p:ext uri="{BB962C8B-B14F-4D97-AF65-F5344CB8AC3E}">
        <p14:creationId xmlns:p14="http://schemas.microsoft.com/office/powerpoint/2010/main" val="222690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13005-890A-6E06-A69E-6CE2BA6B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2229AB1D-204C-C997-95C2-AA8B936304A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Database Configuration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0890990-C43E-6902-D177-02A45C54C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4F093C5-A194-8A70-3441-678EDD1B8F2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7A294-2126-EA16-B3B9-90F736E89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8DE73-B19B-87C5-580E-F54471A7A35F}"/>
              </a:ext>
            </a:extLst>
          </p:cNvPr>
          <p:cNvSpPr txBox="1"/>
          <p:nvPr/>
        </p:nvSpPr>
        <p:spPr>
          <a:xfrm>
            <a:off x="273074" y="1354574"/>
            <a:ext cx="11687277" cy="4231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HK Grotesk"/>
              </a:rPr>
              <a:t>Configured in </a:t>
            </a:r>
            <a:r>
              <a:rPr lang="en-US" sz="2600" i="1" dirty="0" err="1">
                <a:latin typeface="HK Grotesk"/>
              </a:rPr>
              <a:t>application.properties</a:t>
            </a:r>
            <a:endParaRPr lang="en-US" sz="2600" i="1" dirty="0">
              <a:latin typeface="HK Grotesk"/>
            </a:endParaRPr>
          </a:p>
          <a:p>
            <a:pPr>
              <a:lnSpc>
                <a:spcPct val="150000"/>
              </a:lnSpc>
            </a:pPr>
            <a:r>
              <a:rPr lang="en-US" sz="2600" dirty="0">
                <a:latin typeface="HK Grotesk"/>
              </a:rPr>
              <a:t>Database connection settings are defined in the Spring Boot configuration file.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 err="1">
                <a:latin typeface="HK Grotesk"/>
              </a:rPr>
              <a:t>Datasource</a:t>
            </a:r>
            <a:r>
              <a:rPr lang="en-US" sz="2600" b="1" dirty="0">
                <a:latin typeface="HK Grotesk"/>
              </a:rPr>
              <a:t> URL, Username, Password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HK Grotesk"/>
              </a:rPr>
              <a:t>Specifies the database URL and credentials required for connection.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HK Grotesk"/>
              </a:rPr>
              <a:t>MySQL JDBC Driver Configured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HK Grotesk"/>
              </a:rPr>
              <a:t>Uses the MySQL JDBC driver to enable communication between the application and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857399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F9FDE-7D24-9C3F-D53B-F8CE39FD9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1990960-761C-B328-F065-EA5E00D489E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Users Table Schema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B72995D-9FCB-5F57-A619-F1D466E88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8E376F5-15BF-6C7F-B7E9-0B1B65CA563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4223A-4434-4A6F-BC8E-6A810EED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FA79A0-63BA-ECF4-A65C-5056B8D1E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" y="920363"/>
            <a:ext cx="8357616" cy="537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43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3273-96F3-BFE6-2E0F-AC87E276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B3A87F2-FAE6-856C-2BE7-58D31BDD21F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Device Table Schema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7211794-2859-A85A-F9D2-C183E9B59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600450D-CE3E-B58D-FC9D-99DD97EE2C1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EC941-35DF-77AB-FA18-82AE5D2E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B4FDDD-93FD-7894-B119-B1F272644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908" y="924052"/>
            <a:ext cx="7514844" cy="500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95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3B857-BBC4-9A32-8B75-5BA3D68AC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9FB30BB-0C22-340A-FAB6-78591D00F320}"/>
              </a:ext>
            </a:extLst>
          </p:cNvPr>
          <p:cNvSpPr/>
          <p:nvPr/>
        </p:nvSpPr>
        <p:spPr>
          <a:xfrm>
            <a:off x="836983" y="2122827"/>
            <a:ext cx="10102565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4400" b="1" dirty="0">
                <a:solidFill>
                  <a:srgbClr val="0187CC"/>
                </a:solidFill>
                <a:latin typeface="HK Grotesk"/>
              </a:rPr>
              <a:t>CRUD OPERATIONS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AD7C8A8-DB63-396D-3E14-3565C2CC7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C5BF8F0-6822-2343-569B-2F256B2609E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C6604-2BBE-2881-77D8-D8E33A51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5F7B6-8FF2-EDB8-EB3E-D2692069BF5C}"/>
              </a:ext>
            </a:extLst>
          </p:cNvPr>
          <p:cNvSpPr txBox="1"/>
          <p:nvPr/>
        </p:nvSpPr>
        <p:spPr>
          <a:xfrm>
            <a:off x="2935224" y="3272089"/>
            <a:ext cx="59161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>
                <a:solidFill>
                  <a:srgbClr val="212121"/>
                </a:solidFill>
                <a:latin typeface="Segoe UI"/>
              </a:defRPr>
            </a:pPr>
            <a:r>
              <a:rPr lang="en-IN" dirty="0">
                <a:latin typeface="HK Grotesk"/>
              </a:rPr>
              <a:t>API Execution &amp; Validation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F0B848-CE03-F5E3-0B86-9C543721726C}"/>
              </a:ext>
            </a:extLst>
          </p:cNvPr>
          <p:cNvSpPr/>
          <p:nvPr/>
        </p:nvSpPr>
        <p:spPr>
          <a:xfrm flipV="1">
            <a:off x="4406467" y="3700854"/>
            <a:ext cx="2963595" cy="45719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08757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4F005-E5A6-C546-77AF-E7E77BE3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B2C93902-7A75-5DFF-724E-1E0D42ADDF0D}"/>
              </a:ext>
            </a:extLst>
          </p:cNvPr>
          <p:cNvSpPr/>
          <p:nvPr/>
        </p:nvSpPr>
        <p:spPr>
          <a:xfrm>
            <a:off x="273075" y="211475"/>
            <a:ext cx="1010256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400">
                <a:solidFill>
                  <a:srgbClr val="0D47A1"/>
                </a:solidFill>
                <a:latin typeface="Segoe UI Semibold"/>
              </a:defRPr>
            </a:pPr>
            <a:r>
              <a:rPr lang="en-IN" sz="2800" b="1" dirty="0">
                <a:solidFill>
                  <a:srgbClr val="0187CC"/>
                </a:solidFill>
                <a:latin typeface="HK Grotesk"/>
              </a:rPr>
              <a:t>CREATE Operation – POST (User)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F89FC5C-1522-6597-992C-6DC82BED8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AA80A89-6541-76C8-B6B9-24B99D873B5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6459-09D3-A00D-D96C-880B6770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ACFF3-3ABC-03BB-393E-789FEDED6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92" t="5658" r="2912" b="26756"/>
          <a:stretch>
            <a:fillRect/>
          </a:stretch>
        </p:blipFill>
        <p:spPr>
          <a:xfrm>
            <a:off x="754396" y="704590"/>
            <a:ext cx="10102565" cy="569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90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0D249-AC4F-C3BB-1962-F9B6740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82B9074-7D15-CDF5-ADD9-E1C9D9C89917}"/>
              </a:ext>
            </a:extLst>
          </p:cNvPr>
          <p:cNvSpPr/>
          <p:nvPr/>
        </p:nvSpPr>
        <p:spPr>
          <a:xfrm>
            <a:off x="273075" y="211475"/>
            <a:ext cx="1010256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400">
                <a:solidFill>
                  <a:srgbClr val="0D47A1"/>
                </a:solidFill>
                <a:latin typeface="Segoe UI Semibold"/>
              </a:defRPr>
            </a:pPr>
            <a:r>
              <a:rPr lang="en-IN" sz="2800" b="1" dirty="0">
                <a:solidFill>
                  <a:srgbClr val="0187CC"/>
                </a:solidFill>
                <a:latin typeface="HK Grotesk"/>
              </a:rPr>
              <a:t>CREATE Operation – POST (User)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5FB82BD-00AD-7622-9BFE-6C3B5437D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748F217-8063-DC04-E777-F84FF11DF4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60AFB-CE41-E2A8-0E39-875762C5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37BDB-E70F-20D4-AB3C-7E7E8CDFD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6" t="4933" r="2798" b="26134"/>
          <a:stretch>
            <a:fillRect/>
          </a:stretch>
        </p:blipFill>
        <p:spPr>
          <a:xfrm>
            <a:off x="877824" y="642362"/>
            <a:ext cx="9806336" cy="575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66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1643A-CCC9-CE02-0C9A-442DC5B9A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FACA1AC-B8EA-C2DE-C40E-E4835F66367B}"/>
              </a:ext>
            </a:extLst>
          </p:cNvPr>
          <p:cNvSpPr/>
          <p:nvPr/>
        </p:nvSpPr>
        <p:spPr>
          <a:xfrm>
            <a:off x="273075" y="211475"/>
            <a:ext cx="1010256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400">
                <a:solidFill>
                  <a:srgbClr val="0D47A1"/>
                </a:solidFill>
                <a:latin typeface="Segoe UI Semibold"/>
              </a:defRPr>
            </a:pPr>
            <a:r>
              <a:rPr lang="en-IN" sz="2800" b="1" dirty="0">
                <a:solidFill>
                  <a:srgbClr val="0187CC"/>
                </a:solidFill>
                <a:latin typeface="HK Grotesk"/>
              </a:rPr>
              <a:t>CREATE Operation – POST (Device)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F1A0CFA-4E44-7D27-A6E8-A4FB66D42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D920404-18CC-DD30-9E00-A9DBB5B09A67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358FD-C8BD-D777-9664-6C020CED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C54F5A-4EBD-DBFB-2C13-D675F9EAC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50" t="5841" r="3268" b="18277"/>
          <a:stretch>
            <a:fillRect/>
          </a:stretch>
        </p:blipFill>
        <p:spPr>
          <a:xfrm>
            <a:off x="640080" y="577348"/>
            <a:ext cx="10277856" cy="578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69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BAE9-206A-1E3C-E64D-612EBE18E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EBE3756-AFBA-D659-E856-E0C9DA66BC0F}"/>
              </a:ext>
            </a:extLst>
          </p:cNvPr>
          <p:cNvSpPr/>
          <p:nvPr/>
        </p:nvSpPr>
        <p:spPr>
          <a:xfrm>
            <a:off x="273075" y="211475"/>
            <a:ext cx="1010256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400">
                <a:solidFill>
                  <a:srgbClr val="0D47A1"/>
                </a:solidFill>
                <a:latin typeface="Segoe UI Semibold"/>
              </a:defRPr>
            </a:pPr>
            <a:r>
              <a:rPr lang="en-IN" sz="2800" b="1" dirty="0">
                <a:solidFill>
                  <a:srgbClr val="0187CC"/>
                </a:solidFill>
                <a:latin typeface="HK Grotesk"/>
              </a:rPr>
              <a:t>READ Operation – GET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A8F6EE1-AD9A-4819-57F9-DF73C9D0D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FFF7CD0-AB46-7364-5404-B6B48A416F5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1074B-974E-67AB-61E0-3089CE39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FC062F-BED9-E27A-4DC2-ACFCF0BA2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7" t="5200" b="3083"/>
          <a:stretch>
            <a:fillRect/>
          </a:stretch>
        </p:blipFill>
        <p:spPr>
          <a:xfrm>
            <a:off x="987554" y="642362"/>
            <a:ext cx="9628630" cy="565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29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FB0D-7BAE-BA87-0892-716B945C4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6F197D5-DF9E-9333-6F77-A891A47CD88B}"/>
              </a:ext>
            </a:extLst>
          </p:cNvPr>
          <p:cNvSpPr/>
          <p:nvPr/>
        </p:nvSpPr>
        <p:spPr>
          <a:xfrm>
            <a:off x="273075" y="211475"/>
            <a:ext cx="1010256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400">
                <a:solidFill>
                  <a:srgbClr val="0D47A1"/>
                </a:solidFill>
                <a:latin typeface="Segoe UI Semibold"/>
              </a:defRPr>
            </a:pPr>
            <a:r>
              <a:rPr lang="en-IN" sz="2800" b="1" dirty="0">
                <a:solidFill>
                  <a:srgbClr val="0187CC"/>
                </a:solidFill>
                <a:latin typeface="HK Grotesk"/>
              </a:rPr>
              <a:t>UPDATE Operation – PUT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A2FEACD-B7C7-3E73-C508-061D3AC7E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78AC293-819A-1A1A-54D0-FE8A559565A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FF5D5-778C-4E6B-152C-28FE1C83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F7953D-1EB0-4282-58AD-DCAF32242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5" t="4666" r="2240" b="18400"/>
          <a:stretch>
            <a:fillRect/>
          </a:stretch>
        </p:blipFill>
        <p:spPr>
          <a:xfrm>
            <a:off x="1220258" y="642362"/>
            <a:ext cx="9237431" cy="575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75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2852D-0552-063C-32CD-ABD05B4C8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8F1B201-AB88-929B-C8F0-3ED120B8E26E}"/>
              </a:ext>
            </a:extLst>
          </p:cNvPr>
          <p:cNvSpPr/>
          <p:nvPr/>
        </p:nvSpPr>
        <p:spPr>
          <a:xfrm>
            <a:off x="273075" y="211475"/>
            <a:ext cx="1010256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400">
                <a:solidFill>
                  <a:srgbClr val="0D47A1"/>
                </a:solidFill>
                <a:latin typeface="Segoe UI Semibold"/>
              </a:defRPr>
            </a:pPr>
            <a:r>
              <a:rPr lang="en-IN" sz="2800" b="1" dirty="0">
                <a:solidFill>
                  <a:srgbClr val="0187CC"/>
                </a:solidFill>
                <a:latin typeface="HK Grotesk"/>
              </a:rPr>
              <a:t>DELETE Operation – DELETE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0B2854B-7A93-0EEA-BE3E-3356EA3E6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BBE9D40-86DD-B416-4DB7-FF76E4D536E7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F3A34-0115-E2CA-4021-B8A00B7A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1F362-742A-5E84-01E8-F7D046305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2" t="5191" b="18017"/>
          <a:stretch>
            <a:fillRect/>
          </a:stretch>
        </p:blipFill>
        <p:spPr>
          <a:xfrm>
            <a:off x="1210170" y="657802"/>
            <a:ext cx="9792246" cy="574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39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E508-591F-0523-0D5C-8F61671E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8D3F362-7893-53A1-9A47-226E123B0814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Error Handling</a:t>
            </a:r>
          </a:p>
          <a:p>
            <a:pPr>
              <a:spcBef>
                <a:spcPct val="0"/>
              </a:spcBef>
            </a:pP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18F100E-890C-32EE-C6E3-C70D75605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6393EFF-25DB-BA99-02E7-A2CCD4F2ADB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8889E-2378-7418-B7F5-B8E00E5B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1B74C7-3AEE-3E18-FCD5-E144E407F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732" y="703917"/>
            <a:ext cx="7862316" cy="524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88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1317-6311-A1DF-B8AF-6416B5EE4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412EBB4-E4DC-C2F7-B2F8-9CC0C825EECB}"/>
              </a:ext>
            </a:extLst>
          </p:cNvPr>
          <p:cNvSpPr/>
          <p:nvPr/>
        </p:nvSpPr>
        <p:spPr>
          <a:xfrm>
            <a:off x="273075" y="211475"/>
            <a:ext cx="1010256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400">
                <a:solidFill>
                  <a:srgbClr val="0D47A1"/>
                </a:solidFill>
                <a:latin typeface="Segoe UI Semibold"/>
              </a:defRPr>
            </a:pPr>
            <a:r>
              <a:rPr lang="en-IN" sz="2800" b="1" dirty="0">
                <a:solidFill>
                  <a:srgbClr val="0187CC"/>
                </a:solidFill>
                <a:latin typeface="HK Grotesk"/>
              </a:rPr>
              <a:t>Testing &amp; Validation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A2F0773-F158-DE5E-FC03-1A1500350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CF8EB2E-61B1-2E6D-9F4F-CA5F8135B47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99168-1BC5-CFE1-0635-7D0C3856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91A01-D0EB-DD67-0EE1-175FB9F75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84" y="704591"/>
            <a:ext cx="9291156" cy="553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02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2B39-D0C7-21F8-83ED-EB6BFC32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52E8757-91B1-C60D-AA71-BE3E8F99AAB5}"/>
              </a:ext>
            </a:extLst>
          </p:cNvPr>
          <p:cNvSpPr/>
          <p:nvPr/>
        </p:nvSpPr>
        <p:spPr>
          <a:xfrm>
            <a:off x="273075" y="211475"/>
            <a:ext cx="1010256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3400">
                <a:solidFill>
                  <a:srgbClr val="0D47A1"/>
                </a:solidFill>
                <a:latin typeface="Segoe UI Semibold"/>
              </a:defRPr>
            </a:pPr>
            <a:r>
              <a:rPr lang="en-IN" sz="2800" b="1" dirty="0">
                <a:solidFill>
                  <a:srgbClr val="0187CC"/>
                </a:solidFill>
                <a:latin typeface="HK Grotesk"/>
              </a:rPr>
              <a:t>Sequence Flow Overview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86EE0DB-810E-3023-AC69-6436978E0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485F7E-D961-0344-4E42-A5B355F7F38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03EC-F25A-CACF-0F11-D59EA77B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8D055-C15E-05D9-0562-152D1E327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236" y="735328"/>
            <a:ext cx="8569452" cy="552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60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B96F-A798-3078-3E2B-4EC6A9AD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F6046A0-5D34-DEAC-3058-64D43690CB52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Project Achievements</a:t>
            </a:r>
          </a:p>
          <a:p>
            <a:pPr>
              <a:spcBef>
                <a:spcPct val="0"/>
              </a:spcBef>
            </a:pP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FBBB5E1-0276-4DC3-0720-B1B8AF14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2F31C1A-D6CA-D666-99BB-6BAD996FC7F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1BAEF-D590-B9DF-0CD1-A638709F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2623B-B714-9A6B-E279-83715483C39D}"/>
              </a:ext>
            </a:extLst>
          </p:cNvPr>
          <p:cNvSpPr txBox="1"/>
          <p:nvPr/>
        </p:nvSpPr>
        <p:spPr>
          <a:xfrm>
            <a:off x="273075" y="1196360"/>
            <a:ext cx="11797005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HK Grotesk"/>
              </a:rPr>
              <a:t>Secure CRUD Backend Implemented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HK Grotesk"/>
              </a:rPr>
              <a:t>Successfully developed REST APIs with complete Create, Read, Update, and Delete operations.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HK Grotesk"/>
              </a:rPr>
              <a:t>RBAC Successfully Enforced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HK Grotesk"/>
              </a:rPr>
              <a:t>Role-Based Access Control ensures authorized access for ADMIN and USER roles.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HK Grotesk"/>
              </a:rPr>
              <a:t>Enterprise-Level Architecture Achieved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HK Grotesk"/>
              </a:rPr>
              <a:t>Designed using layered architecture principles for scalability, security, and maintainability.</a:t>
            </a:r>
          </a:p>
        </p:txBody>
      </p:sp>
    </p:spTree>
    <p:extLst>
      <p:ext uri="{BB962C8B-B14F-4D97-AF65-F5344CB8AC3E}">
        <p14:creationId xmlns:p14="http://schemas.microsoft.com/office/powerpoint/2010/main" val="3003075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4DCED-6CD5-D523-6369-64AB7882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181675D-9978-816E-2D3D-D8F0D0969B3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Future Enhancements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2A277E7-B7AB-F25F-FA55-4AEA74E9F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EE58EC1-1575-5465-40C4-193CE7BC69F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E13B5-D361-693C-278A-821380A5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728BA-AEA3-CA6F-2319-D090BE3FAE56}"/>
              </a:ext>
            </a:extLst>
          </p:cNvPr>
          <p:cNvSpPr txBox="1"/>
          <p:nvPr/>
        </p:nvSpPr>
        <p:spPr>
          <a:xfrm>
            <a:off x="273075" y="1195471"/>
            <a:ext cx="11467821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HK Grotesk"/>
              </a:rPr>
              <a:t> JWT-based Authentication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HK Grotesk"/>
              </a:rPr>
              <a:t>Implements token-based security for stateless and secure API access.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HK Grotesk"/>
              </a:rPr>
              <a:t>Password Encryption (</a:t>
            </a:r>
            <a:r>
              <a:rPr lang="en-IN" sz="2400" b="1" dirty="0" err="1">
                <a:latin typeface="HK Grotesk"/>
              </a:rPr>
              <a:t>BCrypt</a:t>
            </a:r>
            <a:r>
              <a:rPr lang="en-IN" sz="2400" b="1" dirty="0">
                <a:latin typeface="HK Grotesk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HK Grotesk"/>
              </a:rPr>
              <a:t>Encrypts user passwords to enhance security and prevent plaintext storage.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HK Grotesk"/>
              </a:rPr>
              <a:t>Swagger Documentation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HK Grotesk"/>
              </a:rPr>
              <a:t>Provides interactive API documentation for easier testing and integration.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HK Grotesk"/>
              </a:rPr>
              <a:t>Cloud Deployment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HK Grotesk"/>
              </a:rPr>
              <a:t>Deploys the application on cloud platforms for scalability and real-world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1501765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FFAC-A130-53C5-EE32-37696AFF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BE885A95-EF02-3900-9BFB-E184BC8F6D8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rgbClr val="0187CC"/>
                </a:solidFill>
                <a:latin typeface="HK Grotesk"/>
              </a:rPr>
              <a:t>Conclusion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909701F-BA5E-6DF4-2A73-EC5D7EBF2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9F18DBE-FADB-6129-4AE9-158AC059751F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C3675-AD15-7087-72B1-DA3850FC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9C52A-88D7-18B0-40E2-6EDAF6CD67A6}"/>
              </a:ext>
            </a:extLst>
          </p:cNvPr>
          <p:cNvSpPr txBox="1"/>
          <p:nvPr/>
        </p:nvSpPr>
        <p:spPr>
          <a:xfrm>
            <a:off x="273075" y="1286644"/>
            <a:ext cx="11705565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HK Grotesk"/>
              </a:rPr>
              <a:t>Demonstrates Modern Backend Development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HK Grotesk"/>
              </a:rPr>
              <a:t>Implements RESTful design principles using Spring Boot and structured layering.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HK Grotesk"/>
              </a:rPr>
              <a:t>Applies Security, Scalability &amp; Clean Architecture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HK Grotesk"/>
              </a:rPr>
              <a:t>Ensures secure access control, modular design, and maintainable code structure.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HK Grotesk"/>
              </a:rPr>
              <a:t>Ready for Enterprise Deployment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HK Grotesk"/>
              </a:rPr>
              <a:t>Designed to meet real-world application standards and scalable production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7601791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8051-AAA2-FB60-0154-035D468B0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22C74C8D-B553-4243-9D80-89242F2709BF}"/>
              </a:ext>
            </a:extLst>
          </p:cNvPr>
          <p:cNvSpPr/>
          <p:nvPr/>
        </p:nvSpPr>
        <p:spPr>
          <a:xfrm>
            <a:off x="878130" y="2265231"/>
            <a:ext cx="10102565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0D47A1"/>
                </a:solidFill>
                <a:latin typeface="Segoe UI Semibold"/>
              </a:defRPr>
            </a:pPr>
            <a:r>
              <a:rPr lang="en-IN" sz="4400" b="1" dirty="0">
                <a:solidFill>
                  <a:srgbClr val="0187CC"/>
                </a:solidFill>
                <a:latin typeface="HK Grotesk"/>
              </a:rPr>
              <a:t>THANK YOU !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6328935-77D9-7450-4745-CF05F7DE9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CE75664-0D3C-9857-A6B1-7CDD9FC0748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CC8F4-2A42-9C4F-45FE-79644EBD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C105B-53EE-5864-BBE0-9D99DD7AF0B6}"/>
              </a:ext>
            </a:extLst>
          </p:cNvPr>
          <p:cNvSpPr txBox="1"/>
          <p:nvPr/>
        </p:nvSpPr>
        <p:spPr>
          <a:xfrm>
            <a:off x="2953041" y="3312008"/>
            <a:ext cx="5952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>
                <a:solidFill>
                  <a:srgbClr val="212121"/>
                </a:solidFill>
                <a:latin typeface="Segoe UI"/>
              </a:defRPr>
            </a:pPr>
            <a:r>
              <a:rPr lang="en-IN" sz="2000" b="1" dirty="0">
                <a:latin typeface="HK Grotesk"/>
              </a:rPr>
              <a:t>This concludes our presentation.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3852F7-1532-6A98-07B2-5B32CB1DCB6E}"/>
              </a:ext>
            </a:extLst>
          </p:cNvPr>
          <p:cNvSpPr/>
          <p:nvPr/>
        </p:nvSpPr>
        <p:spPr>
          <a:xfrm>
            <a:off x="4251019" y="3774349"/>
            <a:ext cx="3356789" cy="45719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43345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3176</TotalTime>
  <Words>953</Words>
  <Application>Microsoft Office PowerPoint</Application>
  <PresentationFormat>Widescreen</PresentationFormat>
  <Paragraphs>169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Courier New</vt:lpstr>
      <vt:lpstr>HK Grotesk</vt:lpstr>
      <vt:lpstr>HK Grotesk Bold</vt:lpstr>
      <vt:lpstr>HK Grotesk Light</vt:lpstr>
      <vt:lpstr>HK Grotesk Light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Jai Anshul Gautam</cp:lastModifiedBy>
  <cp:revision>21</cp:revision>
  <dcterms:created xsi:type="dcterms:W3CDTF">2024-05-04T13:11:57Z</dcterms:created>
  <dcterms:modified xsi:type="dcterms:W3CDTF">2026-02-14T16:46:20Z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